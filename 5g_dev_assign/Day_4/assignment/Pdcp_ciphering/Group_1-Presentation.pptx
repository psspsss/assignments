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3" r:id="rId19"/>
    <p:sldId id="274" r:id="rId20"/>
    <p:sldId id="275" r:id="rId21"/>
    <p:sldId id="277" r:id="rId22"/>
    <p:sldId id="278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88925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 panose="020F0502020204030204"/>
              </a:defRPr>
            </a:pPr>
            <a:r>
              <a:t>5G NR PDCP CIPHERING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044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ADCFC"/>
                </a:solidFill>
                <a:latin typeface="Calibri" panose="020F0502020204030204"/>
              </a:defRPr>
            </a:pPr>
            <a:r>
              <a:t>Complete Flow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7764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 panose="020F0502020204030204"/>
              </a:defRPr>
            </a:pPr>
            <a:r>
              <a:t>Standards: 3GPP TS 38.323 | TS 33.501 | TS 35.222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82930" y="1890395"/>
            <a:ext cx="79800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Presented by-</a:t>
            </a:r>
            <a:endParaRPr lang="en-IN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457200"/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58618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Vinayak Majhi</a:t>
            </a:r>
            <a:endParaRPr lang="en-US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457200"/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58620 -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Harsh Prasad</a:t>
            </a:r>
            <a:endParaRPr lang="en-US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457200"/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58633- Diptendra Maity</a:t>
            </a:r>
            <a:endParaRPr lang="en-US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457200"/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58621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-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Diyanisha Dey</a:t>
            </a:r>
            <a:endParaRPr lang="en-US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457200"/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58625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IN" altLang="en-US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GB" sz="2000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Keshav Janghala</a:t>
            </a:r>
            <a:endParaRPr lang="en-US" altLang="en-GB" sz="2000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Project Title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5G NR PDCP Ciphering Implementation using 128-NEA2 (AES-CTR)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 panose="020F0502020204030204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Demonstrate end-to-end encryption flow for secure 5G data transmission between UE and gNB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94965"/>
            <a:ext cx="38106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 panose="020F0502020204030204"/>
              </a:defRPr>
            </a:pPr>
            <a:r>
              <a:t>What This Program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70885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Complete PDCP ciphering workflow in C++ covering all 5 stages from PDU construction to encrypted transmission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65A82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Key Features: AES-128 encryption • Counter mode operation • 3GPP compliant • Educational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217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ADCFC"/>
                </a:solidFill>
                <a:latin typeface="Calibri" panose="020F0502020204030204"/>
              </a:defRPr>
            </a:pPr>
            <a: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5455" y="213741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INTEGRITY-PROTECTED PDU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2097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&amp; PARAMETER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1: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PDCP Service Data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Original plaintext message to be encrypted and transmitted over the air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34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PDCP Header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2-byte header with sequence number (12-bit SN) for ordering and duplicate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COUNT Parameter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32-bit value combining HFN and PDCP SN, ensures unique keystream per PDU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017520"/>
            <a:ext cx="73152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1546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Bearer &amp;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Bearer ID (5-bit, 0-31) and Direction (0=UL, 1=DL) identify the data radio bearer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1: Technical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// Step 1: Parse PDCP SDU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string plaintext = "Hello 5G Network!";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// Step 2: PDCP Header (2 bytes)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header[0] = 0x80;  // D/C bit + SN[11:8]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header[1] = 0x01;  // SN[7:0]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// Step 3: Construct COUNT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uint32_t COUNT = (HFN &lt;&lt; 12) | PDCP_SN;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// COUNT = 0x00000001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// Step 4: Set Bearer &amp; Direction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uint8_t BEARER = 5;       // 5-bit</a:t>
            </a:r>
          </a:p>
          <a:p>
            <a:pPr>
              <a:defRPr sz="1100">
                <a:solidFill>
                  <a:srgbClr val="FFFFFF"/>
                </a:solidFill>
                <a:latin typeface="Consolas" panose="020B0609020204030204"/>
              </a:defRPr>
            </a:pPr>
            <a:r>
              <a:t>uint8_t DIRECTION = 0;    // Uplink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64592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1645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 panose="020F0502020204030204"/>
              </a:defRPr>
            </a:pPr>
            <a:r>
              <a:t>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libri" panose="020F0502020204030204"/>
              </a:defRPr>
            </a:pPr>
            <a:r>
              <a:t>0x00000001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228600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2860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 panose="020F0502020204030204"/>
              </a:defRPr>
            </a:pPr>
            <a:r>
              <a:t>BEARER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libri" panose="020F0502020204030204"/>
              </a:defRPr>
            </a:pPr>
            <a:r>
              <a:t>05 (5-bit)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92608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926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 panose="020F0502020204030204"/>
              </a:defRPr>
            </a:pPr>
            <a: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libri" panose="020F0502020204030204"/>
              </a:defRPr>
            </a:pPr>
            <a:r>
              <a:t>0 (Uplink)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566159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56615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 panose="020F0502020204030204"/>
              </a:defRPr>
            </a:pPr>
            <a:r>
              <a:t>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575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libri" panose="020F0502020204030204"/>
              </a:defRPr>
            </a:pPr>
            <a:r>
              <a:t>440 bits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20675" y="125730"/>
            <a:ext cx="80987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 b="1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Stage 1: </a:t>
            </a:r>
            <a:r>
              <a:rPr lang="en-US" altLang="en-GB" sz="2400" b="1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</a:rPr>
              <a:t>INTEGRITY-PROTECTED PDU INPUT &amp; PARAMETER SETUP</a:t>
            </a:r>
            <a:endParaRPr lang="en-US" altLang="en-GB" sz="2400" b="1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0" y="734060"/>
            <a:ext cx="6174740" cy="4207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1: Output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PDU Structure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PDCP header constructed with sequence number and plaintext data prepared for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Security Parameters Configured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COUNT value, Bearer ID, and Direction set according to 3GPP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Ready for Ciphering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All input parameters validated and formatted for NEA2 algorithm 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STAGE 1 COMPLETE: PDU prepared for ciphering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1028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ADCFC"/>
                </a:solidFill>
                <a:latin typeface="Calibri" panose="020F0502020204030204"/>
              </a:defRPr>
            </a:pPr>
            <a:r>
              <a:t>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5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CIPHER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095" y="2382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NEA2 - AES-CTR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2: Cipher Algorithm (128-NEA2)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AES-128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128-bit key size, 128-bit block size, industry-standard 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73152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34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 panose="020F0502020204030204"/>
              </a:defRPr>
            </a:pPr>
            <a:r>
              <a:t>Counter (CTR)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 panose="020F0502020204030204"/>
              </a:defRPr>
            </a:pPr>
            <a:r>
              <a:t>Stream cipher mode, parallel processing, no padding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Counter Block Structure (128 bits)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Counter Block Structure (128 bits)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2: Counter Block Construction</a:t>
            </a:r>
          </a:p>
        </p:txBody>
      </p:sp>
      <p:pic>
        <p:nvPicPr>
          <p:cNvPr id="5" name="Picture 4" descr="WhatsApp Image 2026-02-02 at 1.33.5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120" y="696595"/>
            <a:ext cx="5924550" cy="4218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2: Output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Cipher Algorithm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128-NEA2 (AES-128 in Counter mode) initialized for secure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Encryption Key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128-bit cipher key (CK) derived from K_gNB and loaded into AES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Counter Block Constructed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128-bit counter block formatted with COUNT, BEARER, DIRECTION per TS 35.222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STAGE 2 COMPLETE: AES-CTR cipher initialized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C3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2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1330" y="211455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KEYSTREAM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669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AES-CTR BLOCK ENCRYPTION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445" y="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3: Keystream Generation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752475"/>
            <a:ext cx="7422515" cy="4151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3: Output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Keystream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Pseudo-random keystream of exact length matching plaintext created via AES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Deterministic &amp; Reproducible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Same parameters at receiver produce identical keystream for successful decryption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Security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Counter prevents keystream reuse, ensuring each PDU has unique encryption 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STAGE 3 COMPLETE: Keystream generation successful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404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ADCFC"/>
                </a:solidFill>
                <a:latin typeface="Calibri" panose="020F0502020204030204"/>
              </a:defRPr>
            </a:pPr>
            <a:r>
              <a:t>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757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XOR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443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PLAINTEXT ⊕ KEYSTREAM → CIPHERTEXT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40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4: XOR Encryption Principle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465" y="805180"/>
            <a:ext cx="6783705" cy="40271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4: Output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Ciphertext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Plaintext successfully encrypted via bitwise XOR with generated keystream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Encryption is Symmetric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Same XOR operation used for both encryption and decryption (stream cipher property)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No Data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Ciphertext length equals plaintext length - no padding overhead in CTR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STAGE 4 COMPLETE: Ciphertext generated via XOR operation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4267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ADCFC"/>
                </a:solidFill>
                <a:latin typeface="Calibri" panose="020F0502020204030204"/>
              </a:defRPr>
            </a:pPr>
            <a:r>
              <a:t>STAGE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2148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ENCRYPTED PDU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003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&amp; TRANSMISSION PREPARATION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5: PDCP PDU Structure</a:t>
            </a:r>
          </a:p>
        </p:txBody>
      </p:sp>
      <p:pic>
        <p:nvPicPr>
          <p:cNvPr id="4" name="Picture 3" descr="WhatsApp Image 2026-02-02 at 1.46.5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180" y="695325"/>
            <a:ext cx="4203065" cy="42030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Calibri" panose="020F0502020204030204"/>
              </a:defRPr>
            </a:pPr>
            <a:r>
              <a:t>Stage 5: Output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PDCP PDU Constructed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Complete PDU with plaintext header and encrypted payload ready for transmission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Transmission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PDU formatted per 3GPP TS 38.323 specifications for over-the-air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C39A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 panose="020F0502020204030204"/>
              </a:defRPr>
            </a:pPr>
            <a:r>
              <a:t>Security Context 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 panose="020F0502020204030204"/>
              </a:defRPr>
            </a:pPr>
            <a:r>
              <a:t>COUNT incremented for next PDU to ensure unique keystream per transmission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 STAGE 5 COMPLETE: Encrypted PDU ready for transmission!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6327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Complete Flow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41145"/>
            <a:ext cx="1371600" cy="822960"/>
          </a:xfrm>
          <a:prstGeom prst="rect">
            <a:avLst/>
          </a:prstGeom>
          <a:solidFill>
            <a:srgbClr val="065A82">
              <a:lumMod val="80000"/>
              <a:lumOff val="20000"/>
            </a:srgbClr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PDU Input</a:t>
            </a:r>
          </a:p>
          <a:p>
            <a:r>
              <a:t>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541145"/>
            <a:ext cx="1371600" cy="822960"/>
          </a:xfrm>
          <a:prstGeom prst="rect">
            <a:avLst/>
          </a:prstGeom>
          <a:solidFill>
            <a:srgbClr val="065A82">
              <a:lumMod val="80000"/>
              <a:lumOff val="20000"/>
            </a:srgbClr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Cipher Init</a:t>
            </a:r>
          </a:p>
          <a:p>
            <a:r>
              <a:t>(NEA2)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541145"/>
            <a:ext cx="1371600" cy="822960"/>
          </a:xfrm>
          <a:prstGeom prst="rect">
            <a:avLst/>
          </a:prstGeom>
          <a:solidFill>
            <a:srgbClr val="065A82">
              <a:lumMod val="80000"/>
              <a:lumOff val="20000"/>
            </a:srgbClr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Keystream</a:t>
            </a:r>
          </a:p>
          <a:p>
            <a:r>
              <a:t>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41145"/>
            <a:ext cx="1371600" cy="822960"/>
          </a:xfrm>
          <a:prstGeom prst="rect">
            <a:avLst/>
          </a:prstGeom>
          <a:solidFill>
            <a:srgbClr val="065A82">
              <a:lumMod val="80000"/>
              <a:lumOff val="20000"/>
            </a:srgbClr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XOR</a:t>
            </a:r>
          </a:p>
          <a:p>
            <a:r>
              <a:t>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541145"/>
            <a:ext cx="1371600" cy="822960"/>
          </a:xfrm>
          <a:prstGeom prst="rect">
            <a:avLst/>
          </a:prstGeom>
          <a:solidFill>
            <a:srgbClr val="065A82">
              <a:lumMod val="80000"/>
              <a:lumOff val="20000"/>
            </a:srgbClr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PDU Output</a:t>
            </a:r>
          </a:p>
          <a:p>
            <a:r>
              <a:t>&amp;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47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ADCFC"/>
                </a:solidFill>
                <a:latin typeface="Calibri" panose="020F0502020204030204"/>
              </a:defRPr>
            </a:pPr>
            <a:r>
              <a:t>Key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295" y="3148330"/>
            <a:ext cx="73152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 panose="020F0502020204030204"/>
              </a:defRPr>
            </a:pPr>
            <a:r>
              <a:t>• Implemented complete 5G PDCP ciphering workflow per 3GPP standards</a:t>
            </a:r>
          </a:p>
          <a:p>
            <a:r>
              <a:rPr sz="1500">
                <a:solidFill>
                  <a:schemeClr val="bg1"/>
                </a:solidFill>
              </a:rPr>
              <a:t>• Understood AES-CTR mode operation and counter block construction</a:t>
            </a:r>
            <a:endParaRPr sz="1500">
              <a:solidFill>
                <a:schemeClr val="bg1"/>
              </a:solidFill>
            </a:endParaRPr>
          </a:p>
          <a:p>
            <a:r>
              <a:rPr sz="1500">
                <a:solidFill>
                  <a:schemeClr val="bg1"/>
                </a:solidFill>
              </a:rPr>
              <a:t>• Learned symmetric encryption via XOR operation and keystream generation</a:t>
            </a:r>
            <a:endParaRPr sz="1500">
              <a:solidFill>
                <a:schemeClr val="bg1"/>
              </a:solidFill>
            </a:endParaRPr>
          </a:p>
          <a:p>
            <a:r>
              <a:rPr sz="1500">
                <a:solidFill>
                  <a:schemeClr val="bg1"/>
                </a:solidFill>
              </a:rPr>
              <a:t>• Recognized importance of COUNT management for security</a:t>
            </a:r>
            <a:endParaRPr sz="15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4481</Words>
  <Application>WPS Presentation</Application>
  <PresentationFormat>On-screen Show (4:3)</PresentationFormat>
  <Paragraphs>272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Diptendra Maity</cp:lastModifiedBy>
  <cp:revision>4</cp:revision>
  <dcterms:created xsi:type="dcterms:W3CDTF">2013-01-27T09:14:00Z</dcterms:created>
  <dcterms:modified xsi:type="dcterms:W3CDTF">2026-02-02T08:27:25Z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DFA6125591394F2C893A3801FAE5434C_12</vt:lpwstr>
  </property>
  <property fmtid="{D5CDD505-2E9C-101B-9397-08002B2CF9AE}" pid="3" name="KSOProductBuildVer">
    <vt:lpwstr>2057-12.2.0.23197</vt:lpwstr>
  </property>
</Properties>
</file>